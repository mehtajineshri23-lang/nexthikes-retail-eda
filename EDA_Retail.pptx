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31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6313C"/>
                </a:solidFill>
                <a:latin typeface="Arial"/>
              </a:rPr>
              <a:t>Product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5D7A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631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Health</c:v>
                  </c:pt>
                  <c:pt idx="1">
                    <c:v>Home &amp; Kitchen</c:v>
                  </c:pt>
                  <c:pt idx="2">
                    <c:v>Fashion</c:v>
                  </c:pt>
                  <c:pt idx="3">
                    <c:v>Grocery</c:v>
                  </c:pt>
                  <c:pt idx="4">
                    <c:v>Electronics</c:v>
                  </c:pt>
                  <c:pt idx="5">
                    <c:v>Beauty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16858</c:v>
                </c:pt>
                <c:pt idx="1">
                  <c:v>16848</c:v>
                </c:pt>
                <c:pt idx="2">
                  <c:v>16613</c:v>
                </c:pt>
                <c:pt idx="3">
                  <c:v>16592</c:v>
                </c:pt>
                <c:pt idx="4">
                  <c:v>16576</c:v>
                </c:pt>
                <c:pt idx="5">
                  <c:v>16513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631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31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6313C"/>
                </a:solidFill>
                <a:latin typeface="Arial"/>
              </a:rPr>
              <a:t>Customer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3E50"/>
              </a:solidFill>
              <a:effectLst/>
            </c:spPr>
          </c:dPt>
          <c:dPt>
            <c:idx val="1"/>
            <c:bubble3D val="0"/>
            <c:spPr>
              <a:solidFill>
                <a:srgbClr val="5D7A94"/>
              </a:solidFill>
              <a:effectLst/>
            </c:spPr>
          </c:dPt>
          <c:dPt>
            <c:idx val="2"/>
            <c:bubble3D val="0"/>
            <c:spPr>
              <a:solidFill>
                <a:srgbClr val="3E92C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Regular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33488</c:v>
                </c:pt>
                <c:pt idx="1">
                  <c:v>33361</c:v>
                </c:pt>
                <c:pt idx="2">
                  <c:v>33151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6313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31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6313C"/>
                </a:solidFill>
                <a:latin typeface="Arial"/>
              </a:rPr>
              <a:t>Payment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Method</c:v>
                </c:pt>
              </c:strCache>
            </c:strRef>
          </c:tx>
          <c:spPr>
            <a:solidFill>
              <a:srgbClr val="3E92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631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Credit Card</c:v>
                  </c:pt>
                  <c:pt idx="1">
                    <c:v>UPI</c:v>
                  </c:pt>
                  <c:pt idx="2">
                    <c:v>Cash on Delivery</c:v>
                  </c:pt>
                  <c:pt idx="3">
                    <c:v>Debit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25307</c:v>
                </c:pt>
                <c:pt idx="1">
                  <c:v>25139</c:v>
                </c:pt>
                <c:pt idx="2">
                  <c:v>24994</c:v>
                </c:pt>
                <c:pt idx="3">
                  <c:v>24560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631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(r)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1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product_price</c:v>
                  </c:pt>
                  <c:pt idx="1">
                    <c:v>quantity</c:v>
                  </c:pt>
                  <c:pt idx="2">
                    <c:v>delivery_days</c:v>
                  </c:pt>
                  <c:pt idx="3">
                    <c:v>age</c:v>
                  </c:pt>
                  <c:pt idx="4">
                    <c:v>discount_%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0.731</c:v>
                </c:pt>
                <c:pt idx="1">
                  <c:v>0.575</c:v>
                </c:pt>
                <c:pt idx="2">
                  <c:v>0.004</c:v>
                </c:pt>
                <c:pt idx="3">
                  <c:v>-0.001</c:v>
                </c:pt>
                <c:pt idx="4">
                  <c:v>-0.137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631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-0.3"/>
        </c:scaling>
        <c:delete val="0"/>
        <c:axPos val="l"/>
        <c:majorGridlines>
          <c:spPr>
            <a:ln w="9525" cap="flat">
              <a:solidFill>
                <a:srgbClr val="E1E8ED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31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6313C"/>
                </a:solidFill>
                <a:latin typeface="Arial"/>
              </a:rPr>
              <a:t>Avg Final Price by Segment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Final Price</c:v>
                </c:pt>
              </c:strCache>
            </c:strRef>
          </c:tx>
          <c:spPr>
            <a:solidFill>
              <a:srgbClr val="5D7A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1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Premium</c:v>
                  </c:pt>
                  <c:pt idx="1">
                    <c:v>Regular</c:v>
                  </c:pt>
                  <c:pt idx="2">
                    <c:v>New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64430</c:v>
                </c:pt>
                <c:pt idx="1">
                  <c:v>64303</c:v>
                </c:pt>
                <c:pt idx="2">
                  <c:v>63767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31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3000"/>
        </c:scaling>
        <c:delete val="0"/>
        <c:axPos val="l"/>
        <c:majorGridlines>
          <c:spPr>
            <a:ln w="9525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31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6313C"/>
                </a:solidFill>
                <a:latin typeface="Arial"/>
              </a:rPr>
              <a:t>Return Rate by Category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%</c:v>
                </c:pt>
              </c:strCache>
            </c:strRef>
          </c:tx>
          <c:spPr>
            <a:solidFill>
              <a:srgbClr val="3E92C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1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Fashion</c:v>
                  </c:pt>
                  <c:pt idx="1">
                    <c:v>Home&amp;Kitchen</c:v>
                  </c:pt>
                  <c:pt idx="2">
                    <c:v>Grocery</c:v>
                  </c:pt>
                  <c:pt idx="3">
                    <c:v>Health</c:v>
                  </c:pt>
                  <c:pt idx="4">
                    <c:v>Beauty</c:v>
                  </c:pt>
                  <c:pt idx="5">
                    <c:v>Electronics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15.05</c:v>
                </c:pt>
                <c:pt idx="1">
                  <c:v>14.89</c:v>
                </c:pt>
                <c:pt idx="2">
                  <c:v>14.87</c:v>
                </c:pt>
                <c:pt idx="3">
                  <c:v>14.83</c:v>
                </c:pt>
                <c:pt idx="4">
                  <c:v>14.76</c:v>
                </c:pt>
                <c:pt idx="5">
                  <c:v>14.47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631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4"/>
        </c:scaling>
        <c:delete val="0"/>
        <c:axPos val="l"/>
        <c:majorGridlines>
          <c:spPr>
            <a:ln w="9525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Retail Transaction Data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•  100,000 transactions across 18 variables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• Bivariate • Multivariate Analysis | Outlier Detection | Correlation Study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 complete exploratory analysis of retail transaction data to understand variable distributions, detect anomalies, measure relationships, and extract insights that are grounded in the actual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0" y="1417320"/>
            <a:ext cx="292608" cy="292608"/>
          </a:xfrm>
          <a:prstGeom prst="ellipse">
            <a:avLst/>
          </a:prstGeom>
          <a:solidFill>
            <a:srgbClr val="5D7A9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3716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multivariate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2075688"/>
            <a:ext cx="292608" cy="292608"/>
          </a:xfrm>
          <a:prstGeom prst="ellipse">
            <a:avLst/>
          </a:prstGeom>
          <a:solidFill>
            <a:srgbClr val="5D7A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075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0299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using IQR method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2734056"/>
            <a:ext cx="292608" cy="292608"/>
          </a:xfrm>
          <a:prstGeom prst="ellipse">
            <a:avLst/>
          </a:prstGeom>
          <a:solidFill>
            <a:srgbClr val="5D7A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734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68833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study across numerical variables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3392424"/>
            <a:ext cx="292608" cy="292608"/>
          </a:xfrm>
          <a:prstGeom prst="ellipse">
            <a:avLst/>
          </a:prstGeom>
          <a:solidFill>
            <a:srgbClr val="5D7A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392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34670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&amp; kurtosis interpretation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4050792"/>
            <a:ext cx="292608" cy="292608"/>
          </a:xfrm>
          <a:prstGeom prst="ellipse">
            <a:avLst/>
          </a:prstGeom>
          <a:solidFill>
            <a:srgbClr val="5D7A9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0050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validated against real data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12700">
            <a:solidFill>
              <a:srgbClr val="5D7A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12700">
            <a:solidFill>
              <a:srgbClr val="5D7A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6002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12700">
            <a:solidFill>
              <a:srgbClr val="5D7A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6002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7824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12700">
            <a:solidFill>
              <a:srgbClr val="5D7A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0" y="16002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 (df.info() / df.head())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columns fully populated across 100,000 rows with correct data types — no imputation or row removal required. Date range (order_date): 1 Jan 2023 – 30 Dec 2025.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age, product_price, quantity, discount_percentage, final_price, delivery_days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gender, city, state, customer_segment, product_category, product_subcategory, payment_method, shipping_type, return_status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Numerical Variables</a:t>
            </a:r>
            <a:endParaRPr lang="en-US" sz="2800" dirty="0"/>
          </a:p>
        </p:txBody>
      </p:sp>
      <p:pic>
        <p:nvPicPr>
          <p:cNvPr id="3" name="Image 0" descr="univariate_histog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315200" cy="39319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280160"/>
          <a:ext cx="3840480" cy="2560320"/>
        </p:xfrm>
        <a:graphic>
          <a:graphicData uri="http://schemas.openxmlformats.org/drawingml/2006/table">
            <a:tbl>
              <a:tblPr/>
              <a:tblGrid>
                <a:gridCol w="173736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863840" y="4023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final_price is meaningfully skewed — a mathematical result of combining price × quantity × (1 − discount).</a:t>
            </a:r>
            <a:endParaRPr lang="en-US" sz="1200" dirty="0"/>
          </a:p>
        </p:txBody>
      </p:sp>
      <p:pic>
        <p:nvPicPr>
          <p:cNvPr id="6" name="Image 1" descr="skewness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120640"/>
            <a:ext cx="3840480" cy="1417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Categorical Variables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3840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343400" y="1234440"/>
          <a:ext cx="3749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8229600" y="1234440"/>
          <a:ext cx="35661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Shape 1"/>
          <p:cNvSpPr/>
          <p:nvPr/>
        </p:nvSpPr>
        <p:spPr>
          <a:xfrm>
            <a:off x="365760" y="4343400"/>
            <a:ext cx="1143000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Rate: </a:t>
            </a:r>
            <a:pPr indent="0" marL="0">
              <a:buNone/>
            </a:pPr>
            <a:r>
              <a:rPr lang="en-US" sz="20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14.81% </a:t>
            </a:r>
            <a:pPr indent="0" marL="0"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closely matching the ~15% expected in the project brief.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are almost evenly split (New 33.5% | Regular 33.4% | Premium 33.2%), and payment methods are similarly balanced — no segment or method dominates.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using IQR Method</a:t>
            </a:r>
            <a:endParaRPr lang="en-US" sz="2800" dirty="0"/>
          </a:p>
        </p:txBody>
      </p:sp>
      <p:pic>
        <p:nvPicPr>
          <p:cNvPr id="3" name="Image 0" descr="outlier_box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675120" cy="420624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371600"/>
          <a:ext cx="4206240" cy="265176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360920" y="420624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appear only in final_price (~1.3% of orders). These are consistent with high-value transactions from combinations of higher prices, larger quantities, and lower discounts — retained rather than removed, since they may represent valid large purchases.</a:t>
            </a:r>
            <a:endParaRPr lang="en-US" sz="125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Final Price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bivariate_price_vs_finalpr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84632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0" y="49377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</a:t>
            </a:r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strongest positive association with final_price (r = 0.731), followed by </a:t>
            </a:r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</a:t>
            </a:r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= 0.575). discount_percentage shows only a weak negative association (r = -0.137).</a:t>
            </a:r>
            <a:endParaRPr lang="en-US" sz="125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Insights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26480" y="128016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2F5F7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spend marginally more (+1.1% vs New), and return rates stay within a tight 14.5–15.1% band across categories — Electronics, expected to have higher returns, actually has the lowest.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 — Discount &amp; Age Effects</a:t>
            </a:r>
            <a:endParaRPr lang="en-US" sz="2800" dirty="0"/>
          </a:p>
        </p:txBody>
      </p:sp>
      <p:pic>
        <p:nvPicPr>
          <p:cNvPr id="3" name="Image 0" descr="multivariate_dis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760720" cy="3291840"/>
          </a:xfrm>
          <a:prstGeom prst="rect">
            <a:avLst/>
          </a:prstGeom>
        </p:spPr>
      </p:pic>
      <p:pic>
        <p:nvPicPr>
          <p:cNvPr id="4" name="Image 1" descr="multivariate_age_seg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577840" cy="3291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4709160"/>
            <a:ext cx="11430000" cy="1417320"/>
          </a:xfrm>
          <a:prstGeom prst="roundRect">
            <a:avLst>
              <a:gd name="adj" fmla="val 5161"/>
            </a:avLst>
          </a:prstGeom>
          <a:solidFill>
            <a:srgbClr val="F2F5F7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value falls steadily as discount rises in every category (mathematical, since final_price is discount-adjusted). Spending stays flat across age groups within each segment — no 30–45 spending peak for Premium customers, unlike the brief's example.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 — Shipping, Delivery &amp; Significance</a:t>
            </a:r>
            <a:endParaRPr lang="en-US" sz="2800" dirty="0"/>
          </a:p>
        </p:txBody>
      </p:sp>
      <p:pic>
        <p:nvPicPr>
          <p:cNvPr id="3" name="Image 0" descr="multivariate_shipping_ret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94360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— Does group membership affect spending?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874520"/>
          <a:ext cx="4937760" cy="118872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3716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F-stat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1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766560" y="32461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difference in mean final_price was detected across customer segments or product categories (p &gt; 0.05).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47548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stays within a narrow 14.5–15.1% band regardless of shipping type or delivery speed — the brief's expected 'slow standard shipping → more returns' pattern is not supported here.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Validation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2F5F7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(VIF)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for all 5 independent variables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below the 5–10 concern threshold — formally confirms no multicollinearity among predictors.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2F5F7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737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vs Delivery Days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68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5.50 vs 5.51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days: Express vs Standard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9319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identical — shipping type does not meaningfully predict delivery speed here.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F2F5F7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737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Days vs Returns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468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0.0005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delivery_days vs return_status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9319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zero — longer delivery does not raise return likelihood in this dataset.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2F5F7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90472"/>
            <a:ext cx="402336" cy="40233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90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25880"/>
            <a:ext cx="10012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excellent — zero missing values, zero duplicates across 100,000 records.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13432"/>
            <a:ext cx="402336" cy="40233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13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48840"/>
            <a:ext cx="10012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and quantity are the strongest positive associations with final_price; discount has only a weak negative association.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2F5F7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36392"/>
            <a:ext cx="402336" cy="40233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36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71800"/>
            <a:ext cx="10012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exist only in final_price (~1.3%) and were retained as plausible high-value transactions.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59352"/>
            <a:ext cx="402336" cy="40233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94760"/>
            <a:ext cx="10012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segment, category, age, shipping, and delivery speed show only small differences in spending and return rate.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2F5F7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82312"/>
            <a:ext cx="402336" cy="40233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782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617720"/>
            <a:ext cx="10012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difference in mean final_price was found across customer segments or product categories (ANOVA, p &gt; 0.05).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605272"/>
            <a:ext cx="402336" cy="402336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605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440680"/>
            <a:ext cx="10012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multicollinearity among independent variables (VIF ≈ 1.00); delivery_days has no meaningful link to shipping type or returns.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727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385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727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385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and manipulation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7157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815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and array handling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6060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7157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0815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plotting for charts and grids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587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245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 (histograms, boxplots, heatmaps)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7490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8587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2245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testing (Pearson r, p-values) and ANOVA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0017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3675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Inflation Factor (VIF) for multicollinearity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489204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50017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36752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environment for code, output, and interpretation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EDA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EDA covered univariate, bivariate, and multivariate analysis, outlier detection, correlation with significance testing, ANOVA, and a formal multicollinearity check — validated against the actual dataset rather than assuming the brief's example findings would hold.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515600" cy="2377440"/>
          </a:xfrm>
          <a:prstGeom prst="roundRect">
            <a:avLst>
              <a:gd name="adj" fmla="val 3846"/>
            </a:avLst>
          </a:prstGeom>
          <a:solidFill>
            <a:srgbClr val="1B28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3017520"/>
            <a:ext cx="9784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project brief contained expected findings, but I validated them against the actual dataset. Where the data differed from expectations, I reported the actual findings instead of forcing the expected conclusion.”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pPr indent="0" marL="0"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not about confirming assumptions — it is about discovering and communicating what the data actually shows.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2026-09-25T11:08:15Z</dcterms:created>
  <dcterms:modified xsi:type="dcterms:W3CDTF">2026-09-25T11:08:15Z</dcterms:modified>
</cp:coreProperties>
</file>